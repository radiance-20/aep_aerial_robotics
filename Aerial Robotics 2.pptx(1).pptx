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Roboto Condensed Bold" charset="1" panose="02000000000000000000"/>
      <p:regular r:id="rId26"/>
    </p:embeddedFont>
    <p:embeddedFont>
      <p:font typeface="Roboto Condensed" charset="1" panose="02000000000000000000"/>
      <p:regular r:id="rId27"/>
    </p:embeddedFont>
    <p:embeddedFont>
      <p:font typeface="Montserrat Bold" charset="1" panose="00000800000000000000"/>
      <p:regular r:id="rId28"/>
    </p:embeddedFont>
    <p:embeddedFont>
      <p:font typeface="Montserrat Light" charset="1" panose="00000400000000000000"/>
      <p:regular r:id="rId29"/>
    </p:embeddedFont>
    <p:embeddedFont>
      <p:font typeface="Montserrat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Due to this, it is becoming adopted more even in industry.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Without the –m flag, git will open a text editor in which you can type in longer notes for that commit.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Reminder that this is not an exhaustive list. Make sure to inform students.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https://github.com/USERNAME/REPOSITORY.git" TargetMode="External" Type="http://schemas.openxmlformats.org/officeDocument/2006/relationships/hyperlink"/><Relationship Id="rId6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99509"/>
            <a:ext cx="13966684" cy="4156269"/>
            <a:chOff x="0" y="0"/>
            <a:chExt cx="18622245" cy="5541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22248" cy="5541688"/>
            </a:xfrm>
            <a:custGeom>
              <a:avLst/>
              <a:gdLst/>
              <a:ahLst/>
              <a:cxnLst/>
              <a:rect r="r" b="b" t="t" l="l"/>
              <a:pathLst>
                <a:path h="5541688" w="18622248">
                  <a:moveTo>
                    <a:pt x="0" y="0"/>
                  </a:moveTo>
                  <a:lnTo>
                    <a:pt x="18622248" y="0"/>
                  </a:lnTo>
                  <a:lnTo>
                    <a:pt x="18622248" y="5541688"/>
                  </a:lnTo>
                  <a:lnTo>
                    <a:pt x="0" y="55416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962" t="0" r="30599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18622245" cy="537976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0505"/>
                </a:lnSpc>
              </a:pPr>
              <a:r>
                <a:rPr lang="en-US" b="true" sz="10299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Embedded Systems &amp; </a:t>
              </a:r>
            </a:p>
            <a:p>
              <a:pPr algn="l">
                <a:lnSpc>
                  <a:spcPts val="10505"/>
                </a:lnSpc>
              </a:pPr>
              <a:r>
                <a:rPr lang="en-US" b="true" sz="10299">
                  <a:solidFill>
                    <a:srgbClr val="C6FE0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Software Development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418" y="5998573"/>
            <a:ext cx="6212891" cy="215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1"/>
              </a:lnSpc>
            </a:pPr>
            <a:r>
              <a:rPr lang="en-US" sz="4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Aurora Robotics</a:t>
            </a:r>
          </a:p>
          <a:p>
            <a:pPr algn="l">
              <a:lnSpc>
                <a:spcPts val="5327"/>
              </a:lnSpc>
            </a:pPr>
          </a:p>
          <a:p>
            <a:pPr algn="l">
              <a:lnSpc>
                <a:spcPts val="5759"/>
              </a:lnSpc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O. C. Kogo, O. O. Egharevba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985551"/>
            <a:ext cx="6738602" cy="42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C6FE08">
                    <a:alpha val="8588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WEEK 2 OF 8  ·  AERIAL 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58892"/>
            <a:ext cx="14730765" cy="134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97"/>
              </a:lnSpc>
            </a:pPr>
            <a:r>
              <a:rPr lang="en-US" b="true" sz="98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Out</a:t>
            </a:r>
            <a:r>
              <a:rPr lang="en-US" b="true" sz="9899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-line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589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OUTLINE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802405"/>
            <a:ext cx="14730765" cy="298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567" indent="-365283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Linux command line </a:t>
            </a:r>
          </a:p>
          <a:p>
            <a:pPr algn="l" marL="730567" indent="-365283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Version Control using Git</a:t>
            </a:r>
          </a:p>
          <a:p>
            <a:pPr algn="l" marL="730567" indent="-365283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a Drone made up of? </a:t>
            </a:r>
          </a:p>
          <a:p>
            <a:pPr algn="l" marL="730567" indent="-365283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Sensors</a:t>
            </a:r>
          </a:p>
          <a:p>
            <a:pPr algn="l" marL="730567" indent="-365283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Actuators</a:t>
            </a:r>
          </a:p>
          <a:p>
            <a:pPr algn="l" marL="730491" indent="-365246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Embedded Computing and Flight Controllers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78701"/>
            <a:ext cx="14730765" cy="128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9"/>
              </a:lnSpc>
            </a:pPr>
            <a:r>
              <a:rPr lang="en-US" b="true" sz="94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Over</a:t>
            </a:r>
            <a:r>
              <a:rPr lang="en-US" b="true" sz="9499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348263"/>
            <a:ext cx="4089568" cy="737027"/>
            <a:chOff x="0" y="0"/>
            <a:chExt cx="5452758" cy="9827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982702"/>
            </a:xfrm>
            <a:custGeom>
              <a:avLst/>
              <a:gdLst/>
              <a:ahLst/>
              <a:cxnLst/>
              <a:rect r="r" b="b" t="t" l="l"/>
              <a:pathLst>
                <a:path h="982702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982702"/>
                  </a:lnTo>
                  <a:lnTo>
                    <a:pt x="0" y="9827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689" r="0" b="-425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992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OVERVIEW</a:t>
              </a:r>
            </a:p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457933"/>
            <a:ext cx="14730765" cy="358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1017" indent="-260508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week would be split into two parts: software development and embedded systems</a:t>
            </a:r>
          </a:p>
          <a:p>
            <a:pPr algn="l" marL="521017" indent="-260508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the  software development section, we would look at what programming languages are used in this field, and the language that would be used throughout this course.</a:t>
            </a:r>
          </a:p>
          <a:p>
            <a:pPr algn="l" marL="521017" indent="-260508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the embedded systems section, we would look at what embedded systems as a subfield is, and the different things that make up the different kinds of drones.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3268" y="96018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208475"/>
            <a:ext cx="4089568" cy="507492"/>
            <a:chOff x="0" y="0"/>
            <a:chExt cx="5452758" cy="6766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DRONE SOFTWARE DEVELOPMENT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72619" y="2226598"/>
            <a:ext cx="1164869" cy="1363789"/>
            <a:chOff x="0" y="0"/>
            <a:chExt cx="1553159" cy="18183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7150" y="308572"/>
              <a:ext cx="1284837" cy="1333220"/>
              <a:chOff x="0" y="0"/>
              <a:chExt cx="812800" cy="84340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43407"/>
              </a:xfrm>
              <a:custGeom>
                <a:avLst/>
                <a:gdLst/>
                <a:ahLst/>
                <a:cxnLst/>
                <a:rect r="r" b="b" t="t" l="l"/>
                <a:pathLst>
                  <a:path h="843407" w="812800">
                    <a:moveTo>
                      <a:pt x="406400" y="0"/>
                    </a:moveTo>
                    <a:cubicBezTo>
                      <a:pt x="181951" y="0"/>
                      <a:pt x="0" y="188803"/>
                      <a:pt x="0" y="421704"/>
                    </a:cubicBezTo>
                    <a:cubicBezTo>
                      <a:pt x="0" y="654604"/>
                      <a:pt x="181951" y="843407"/>
                      <a:pt x="406400" y="843407"/>
                    </a:cubicBezTo>
                    <a:cubicBezTo>
                      <a:pt x="630849" y="843407"/>
                      <a:pt x="812800" y="654604"/>
                      <a:pt x="812800" y="421704"/>
                    </a:cubicBezTo>
                    <a:cubicBezTo>
                      <a:pt x="812800" y="18880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88594"/>
                <a:ext cx="660400" cy="675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31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553159" cy="1818386"/>
              <a:chOff x="0" y="0"/>
              <a:chExt cx="1553159" cy="181838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553210" cy="1818333"/>
              </a:xfrm>
              <a:custGeom>
                <a:avLst/>
                <a:gdLst/>
                <a:ahLst/>
                <a:cxnLst/>
                <a:rect r="r" b="b" t="t" l="l"/>
                <a:pathLst>
                  <a:path h="1818333" w="1553210">
                    <a:moveTo>
                      <a:pt x="0" y="0"/>
                    </a:moveTo>
                    <a:lnTo>
                      <a:pt x="1553210" y="0"/>
                    </a:lnTo>
                    <a:lnTo>
                      <a:pt x="1553210" y="1818333"/>
                    </a:lnTo>
                    <a:lnTo>
                      <a:pt x="0" y="181833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83" t="0" r="-1880" b="-2"/>
                </a:stretch>
              </a:blipFill>
            </p:spPr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7" t="0" r="-63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849317"/>
            <a:ext cx="14062627" cy="225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9"/>
              </a:lnSpc>
            </a:pPr>
            <a:r>
              <a:rPr lang="en-US" b="true" sz="84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</a:t>
            </a:r>
            <a:r>
              <a:rPr lang="en-US" b="true" sz="8499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Programming Languages </a:t>
            </a:r>
            <a:r>
              <a:rPr lang="en-US" b="true" sz="84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are used in </a:t>
            </a:r>
            <a:r>
              <a:rPr lang="en-US" b="true" sz="8499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Drone Development?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310569"/>
            <a:ext cx="15026326" cy="444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5229" indent="-252614" lvl="1">
              <a:lnSpc>
                <a:spcPts val="460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Drone development is a subcategory of mobile robotics as mentioned earlier, and uses mostly the same languages.</a:t>
            </a:r>
          </a:p>
          <a:p>
            <a:pPr algn="l" marL="505229" indent="-252614" lvl="1">
              <a:lnSpc>
                <a:spcPts val="460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200">
                <a:solidFill>
                  <a:srgbClr val="C6FE0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C/C++ </a:t>
            </a: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the standard for writing drone firmware.</a:t>
            </a:r>
          </a:p>
          <a:p>
            <a:pPr algn="l" marL="505229" indent="-252614" lvl="1">
              <a:lnSpc>
                <a:spcPts val="460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Drone firmware is the software running on flight controllers and onboard microcontrollers that interfaces with the drone's components, including its sensors and actuators.</a:t>
            </a:r>
          </a:p>
          <a:p>
            <a:pPr algn="l" marL="505229" indent="-252614" lvl="1">
              <a:lnSpc>
                <a:spcPts val="4608"/>
              </a:lnSpc>
              <a:buFont typeface="Arial"/>
              <a:buChar char="•"/>
            </a:pPr>
            <a:r>
              <a:rPr lang="en-US" sz="3200">
                <a:solidFill>
                  <a:srgbClr val="C6FE0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C/C++</a:t>
            </a: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the standard for drone firmware due to their speed, determinism, and low-level hardware access, which allow for efficient use of limited computational resources.</a:t>
            </a:r>
          </a:p>
          <a:p>
            <a:pPr algn="l" marL="315768" indent="-157884" lvl="1">
              <a:lnSpc>
                <a:spcPts val="28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61892"/>
            <a:ext cx="14037719" cy="232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5"/>
              </a:lnSpc>
            </a:pPr>
            <a:r>
              <a:rPr lang="en-US" b="true" sz="87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Programming Languages </a:t>
            </a:r>
            <a:r>
              <a:rPr lang="en-US" b="true" sz="8799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Continued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37488" y="322288"/>
            <a:ext cx="833847" cy="507600"/>
            <a:chOff x="0" y="0"/>
            <a:chExt cx="1111796" cy="67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1800" cy="676804"/>
            </a:xfrm>
            <a:custGeom>
              <a:avLst/>
              <a:gdLst/>
              <a:ahLst/>
              <a:cxnLst/>
              <a:rect r="r" b="b" t="t" l="l"/>
              <a:pathLst>
                <a:path h="676804" w="1111800">
                  <a:moveTo>
                    <a:pt x="0" y="0"/>
                  </a:moveTo>
                  <a:lnTo>
                    <a:pt x="1111800" y="0"/>
                  </a:lnTo>
                  <a:lnTo>
                    <a:pt x="1111800" y="676804"/>
                  </a:lnTo>
                  <a:lnTo>
                    <a:pt x="0" y="676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103" t="0" r="-28103" b="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11796" cy="686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1660" y="4472559"/>
            <a:ext cx="14730603" cy="478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7668" indent="-193834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higher-level tasks such as navigation, path-planning, SLAM, computer vision, etc.. Python and C++ are widely used. </a:t>
            </a:r>
          </a:p>
          <a:p>
            <a:pPr algn="l" marL="387668" indent="-193834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C++ is the industry standard due to its speed and determinism.</a:t>
            </a:r>
          </a:p>
          <a:p>
            <a:pPr algn="l" marL="521017" indent="-260508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C++ is the industry standard due to its speed and determinism.</a:t>
            </a:r>
          </a:p>
          <a:p>
            <a:pPr algn="l" marL="521017" indent="-260508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Python was widely adopted due to its simplicity which made it very efficient for testing out ideas and prototyping. </a:t>
            </a:r>
          </a:p>
          <a:p>
            <a:pPr algn="l" marL="521017" indent="-260508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Python would be used throughout this course as C++ is too bulky to be taught within the timeframe.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78833"/>
            <a:ext cx="14730603" cy="106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7"/>
              </a:lnSpc>
            </a:pPr>
            <a:r>
              <a:rPr lang="en-US" b="true" sz="78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 Linux </a:t>
            </a:r>
            <a:r>
              <a:rPr lang="en-US" b="true" sz="7899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Command 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585488"/>
            <a:ext cx="5351606" cy="507492"/>
            <a:chOff x="0" y="0"/>
            <a:chExt cx="7135475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35468" cy="676656"/>
            </a:xfrm>
            <a:custGeom>
              <a:avLst/>
              <a:gdLst/>
              <a:ahLst/>
              <a:cxnLst/>
              <a:rect r="r" b="b" t="t" l="l"/>
              <a:pathLst>
                <a:path h="676656" w="7135468">
                  <a:moveTo>
                    <a:pt x="0" y="0"/>
                  </a:moveTo>
                  <a:lnTo>
                    <a:pt x="7135468" y="0"/>
                  </a:lnTo>
                  <a:lnTo>
                    <a:pt x="7135468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23582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135475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DRONE SOFTWARE DEVELOPMENT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545015"/>
            <a:ext cx="14730603" cy="452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irectories: these are basically folders. That's it, literally.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Paths are 'addresses' of files and folders. They are strings of text containing the location to a directory/file. 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Think of it like your home address. 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2 fundamental types of paths, absolute and relative paths. 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Absolute paths are paths started from the root. 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they start from the root directory containing all directories in your system. </a:t>
            </a:r>
          </a:p>
          <a:p>
            <a:pPr algn="l" marL="597218" indent="-298609" lvl="1">
              <a:lnSpc>
                <a:spcPts val="4752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69545"/>
            <a:ext cx="14730765" cy="115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9"/>
              </a:lnSpc>
            </a:pPr>
            <a:r>
              <a:rPr lang="en-US" b="true" sz="8499" spc="-3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Linux </a:t>
            </a:r>
            <a:r>
              <a:rPr lang="en-US" b="true" sz="8499" spc="-399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Command Line</a:t>
            </a:r>
            <a:r>
              <a:rPr lang="en-US" b="true" sz="8499" spc="-3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contd.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467682"/>
            <a:ext cx="4089568" cy="737027"/>
            <a:chOff x="0" y="0"/>
            <a:chExt cx="5452758" cy="9827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982702"/>
            </a:xfrm>
            <a:custGeom>
              <a:avLst/>
              <a:gdLst/>
              <a:ahLst/>
              <a:cxnLst/>
              <a:rect r="r" b="b" t="t" l="l"/>
              <a:pathLst>
                <a:path h="982702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982702"/>
                  </a:lnTo>
                  <a:lnTo>
                    <a:pt x="0" y="9827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689" r="0" b="-425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992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DRONE SOFTWARE DEVELOPMENT</a:t>
              </a:r>
            </a:p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18896" y="3392573"/>
            <a:ext cx="16230600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elative paths are paths started from the current directory. 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command line allows you to traverse directories on your PC, open files, read contents of a file, execute commands, write to files, create new files and directories, install software, etc. 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Some commands, like commands for installing software, require admin privileges.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sudo is a special keyword which gives the user admin privileges for that particular command. 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While the user can give himself permanent admin privileges, this is very discouraged.</a:t>
            </a:r>
          </a:p>
          <a:p>
            <a:pPr algn="l">
              <a:lnSpc>
                <a:spcPts val="396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94742"/>
            <a:ext cx="14730765" cy="115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Linux </a:t>
            </a: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Command</a:t>
            </a: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</a:t>
            </a: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Line </a:t>
            </a: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1635" y="1653900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DRONE SOFTWARE DEVELOPMENT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1635" y="3682001"/>
            <a:ext cx="14730765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few key commands for navigation and editing are given below: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cd: this stands for change directory and is used to change the current directory to the directory provided. 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touch: this is used to create a file with the name provided: touch newFile.txt 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mkdir: this stands for make directory and is used to create a new subdirectory with the path provided.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commands are in the data files provided in the course.</a:t>
            </a:r>
          </a:p>
          <a:p>
            <a:pPr algn="l" marL="597218" indent="-298609" lvl="1">
              <a:lnSpc>
                <a:spcPts val="396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94742"/>
            <a:ext cx="14730765" cy="115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Version Control </a:t>
            </a: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using Git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792879"/>
            <a:ext cx="4089568" cy="737027"/>
            <a:chOff x="0" y="0"/>
            <a:chExt cx="5452758" cy="9827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982702"/>
            </a:xfrm>
            <a:custGeom>
              <a:avLst/>
              <a:gdLst/>
              <a:ahLst/>
              <a:cxnLst/>
              <a:rect r="r" b="b" t="t" l="l"/>
              <a:pathLst>
                <a:path h="982702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982702"/>
                  </a:lnTo>
                  <a:lnTo>
                    <a:pt x="0" y="9827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689" r="0" b="-425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992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DRONE SOFTWARE DEVELOPMENT</a:t>
              </a:r>
            </a:p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1635" y="3653426"/>
            <a:ext cx="14730765" cy="534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236" indent="-292618" lvl="1">
              <a:lnSpc>
                <a:spcPts val="5032"/>
              </a:lnSpc>
              <a:buFont typeface="Arial"/>
              <a:buChar char="•"/>
            </a:pPr>
            <a:r>
              <a:rPr lang="en-US" sz="393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 is a distributed version control system originally developed by Linus Torvalds in 2005. It tracks changes to files and enables collaborative software development.</a:t>
            </a:r>
          </a:p>
          <a:p>
            <a:pPr algn="l" marL="585236" indent="-292618" lvl="1">
              <a:lnSpc>
                <a:spcPts val="5032"/>
              </a:lnSpc>
              <a:buFont typeface="Arial"/>
              <a:buChar char="•"/>
            </a:pPr>
            <a:r>
              <a:rPr lang="en-US" sz="393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 is installed on Linux using:</a:t>
            </a:r>
          </a:p>
          <a:p>
            <a:pPr algn="l" marL="585236" indent="-292618" lvl="1">
              <a:lnSpc>
                <a:spcPts val="5032"/>
              </a:lnSpc>
              <a:buFont typeface="Arial"/>
              <a:buChar char="•"/>
            </a:pPr>
            <a:r>
              <a:rPr lang="en-US" sz="393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sudo apt install git</a:t>
            </a:r>
          </a:p>
          <a:p>
            <a:pPr algn="l" marL="585236" indent="-292618" lvl="1">
              <a:lnSpc>
                <a:spcPts val="5032"/>
              </a:lnSpc>
              <a:buFont typeface="Arial"/>
              <a:buChar char="•"/>
            </a:pPr>
            <a:r>
              <a:rPr lang="en-US" sz="393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When starting a Git repository, you first initialize the repository using git init.</a:t>
            </a:r>
          </a:p>
          <a:p>
            <a:pPr algn="l" marL="585236" indent="-292618" lvl="1">
              <a:lnSpc>
                <a:spcPts val="5032"/>
              </a:lnSpc>
              <a:buFont typeface="Arial"/>
              <a:buChar char="•"/>
            </a:pPr>
          </a:p>
          <a:p>
            <a:pPr algn="l" marL="111197" indent="-55598" lvl="1">
              <a:lnSpc>
                <a:spcPts val="168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49317"/>
            <a:ext cx="14730603" cy="115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VC Continued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37488" y="322288"/>
            <a:ext cx="833847" cy="507600"/>
            <a:chOff x="0" y="0"/>
            <a:chExt cx="1111796" cy="67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1800" cy="676804"/>
            </a:xfrm>
            <a:custGeom>
              <a:avLst/>
              <a:gdLst/>
              <a:ahLst/>
              <a:cxnLst/>
              <a:rect r="r" b="b" t="t" l="l"/>
              <a:pathLst>
                <a:path h="676804" w="1111800">
                  <a:moveTo>
                    <a:pt x="0" y="0"/>
                  </a:moveTo>
                  <a:lnTo>
                    <a:pt x="1111800" y="0"/>
                  </a:lnTo>
                  <a:lnTo>
                    <a:pt x="1111800" y="676804"/>
                  </a:lnTo>
                  <a:lnTo>
                    <a:pt x="0" y="676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103" t="0" r="-28103" b="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11796" cy="686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1635" y="3227051"/>
            <a:ext cx="14730603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532" indent="-247766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Secondly, to bookmark some progress or changes, you add the current directory to the staging area. </a:t>
            </a:r>
          </a:p>
          <a:p>
            <a:pPr algn="l" marL="495532" indent="-247766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is an intermediary layer between your current files and the committed files. </a:t>
            </a:r>
          </a:p>
          <a:p>
            <a:pPr algn="l" marL="495532" indent="-247766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Thirdly, you commit the staged changes to the repository. A commit acts as a snapshot of the project at that point in time. 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05284"/>
            <a:ext cx="14730765" cy="119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75"/>
              </a:lnSpc>
              <a:spcBef>
                <a:spcPct val="0"/>
              </a:spcBef>
            </a:pPr>
            <a:r>
              <a:rPr lang="en-US" b="true" sz="8799" spc="-413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Github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1635" y="1554917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DRONE SOFTWARE DEVELOPMENT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1635" y="3573493"/>
            <a:ext cx="14730765" cy="395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Github is a website which serves as a hub for hosting git repositories. 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allows developers to share their code with others, collaborate on projects and contribute to open-source projects.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After your first commit, to push your code to github, you first create a repository on github for that project.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Secondly, you name your current branch back on your local terminal.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then tell git where the github repository is via ssh</a:t>
            </a:r>
            <a:r>
              <a:rPr lang="en-US" sz="3200" u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 algn="l" marL="579120" indent="-289560" lvl="1">
              <a:lnSpc>
                <a:spcPts val="460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05284"/>
            <a:ext cx="14730765" cy="119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75"/>
              </a:lnSpc>
              <a:spcBef>
                <a:spcPct val="0"/>
              </a:spcBef>
            </a:pPr>
            <a:r>
              <a:rPr lang="en-US" b="true" sz="8799" spc="-413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Github</a:t>
            </a:r>
            <a:r>
              <a:rPr lang="en-US" b="true" sz="8799" spc="-413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Contd.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1635" y="1554917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DRONE SOFTWARE DEVELOPMENT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1635" y="3573493"/>
            <a:ext cx="14730765" cy="395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then push your code to the remote branch: git push –u origin main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next time you commit and want to push to your github, maybe after updating a feature or fixing a bug, all you have to type is: git push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download other people's repositories, you can use: git clone </a:t>
            </a:r>
            <a:r>
              <a:rPr lang="en-US" sz="3200" u="sng">
                <a:solidFill>
                  <a:srgbClr val="FF1FA9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github.com/USERNAME/REPOSITORY.git"/>
              </a:rPr>
              <a:t>https://github.com/USERNAME/REPOSITORY.git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When changes have been made, this command updates your local version to the most recent one on github: git pull</a:t>
            </a:r>
          </a:p>
          <a:p>
            <a:pPr algn="l" marL="579120" indent="-289560" lvl="1">
              <a:lnSpc>
                <a:spcPts val="460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69996"/>
            <a:ext cx="14730765" cy="115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is a </a:t>
            </a: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Drone made up of 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629154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EMBEDDED SYSTEMS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1635" y="3581055"/>
            <a:ext cx="14730765" cy="418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8" indent="-298609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drone is made up of 2 main parts: An airframe which provides physical support and its electronics.</a:t>
            </a:r>
          </a:p>
          <a:p>
            <a:pPr algn="l" marL="597218" indent="-298609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airframe can designed using additive CAD or traditional manufacturing techniques.</a:t>
            </a:r>
          </a:p>
          <a:p>
            <a:pPr algn="l" marL="597218" indent="-298609" lvl="1">
              <a:lnSpc>
                <a:spcPts val="4752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for the electronics, it can be divided into 3 main classes of electrical devices: Actuators, Sensors and Embedded Computing devices.</a:t>
            </a:r>
          </a:p>
          <a:p>
            <a:pPr algn="l" marL="597218" indent="-298609" lvl="1">
              <a:lnSpc>
                <a:spcPts val="4752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8896" y="2154117"/>
            <a:ext cx="14730765" cy="115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Sensors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1831" y="1652253"/>
            <a:ext cx="4089568" cy="737027"/>
            <a:chOff x="0" y="0"/>
            <a:chExt cx="5452758" cy="9827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982702"/>
            </a:xfrm>
            <a:custGeom>
              <a:avLst/>
              <a:gdLst/>
              <a:ahLst/>
              <a:cxnLst/>
              <a:rect r="r" b="b" t="t" l="l"/>
              <a:pathLst>
                <a:path h="982702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982702"/>
                  </a:lnTo>
                  <a:lnTo>
                    <a:pt x="0" y="9827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689" r="0" b="-425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992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EMBEDDED SYSTEMS</a:t>
              </a:r>
            </a:p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1897837" y="5133125"/>
          <a:ext cx="7586157" cy="4274588"/>
        </p:xfrm>
        <a:graphic>
          <a:graphicData uri="http://schemas.openxmlformats.org/presentationml/2006/ole">
            <p:oleObj imgW="9105900" imgH="579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031831" y="3560426"/>
            <a:ext cx="14730765" cy="170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029" indent="-221015" lvl="1">
              <a:lnSpc>
                <a:spcPts val="2637"/>
              </a:lnSpc>
              <a:buFont typeface="Arial"/>
              <a:buChar char="•"/>
            </a:pPr>
            <a:r>
              <a:rPr lang="en-US" sz="244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sensor is a device that detects a physical quantity. 'Physical quantity' could be light, temperature, sound, a magnetic field, etc..</a:t>
            </a:r>
          </a:p>
          <a:p>
            <a:pPr algn="l" marL="442029" indent="-221015" lvl="1">
              <a:lnSpc>
                <a:spcPts val="2637"/>
              </a:lnSpc>
              <a:buFont typeface="Arial"/>
              <a:buChar char="•"/>
            </a:pPr>
            <a:r>
              <a:rPr lang="en-US" sz="244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Sensors use transducers to convert physical quantities into electrical signals, which may be processed internally or transmitted digitally to a microcontroller or computer.</a:t>
            </a:r>
          </a:p>
          <a:p>
            <a:pPr algn="l">
              <a:lnSpc>
                <a:spcPts val="263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69545"/>
            <a:ext cx="14730765" cy="115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Actuators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328703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EMBEDDED SYSTEMS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240173"/>
            <a:ext cx="14730765" cy="333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1017" indent="-260508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actuator is a device that converts energy to mechanical work. In simpler terms, it takes in electricity and in turn translates/rotates.</a:t>
            </a:r>
          </a:p>
          <a:p>
            <a:pPr algn="l" marL="521017" indent="-260508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aerial robotics, BLDC motors are very commonly used.</a:t>
            </a:r>
          </a:p>
          <a:p>
            <a:pPr algn="l" marL="521017" indent="-260508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BLDC stands for Brushless DC Motors. </a:t>
            </a:r>
          </a:p>
          <a:p>
            <a:pPr algn="l" marL="521017" indent="-260508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BLDC motors are preferred in drones mainly because they offer high power-to-weight ratio, high efficiency, high power density, and good controllability at high speeds.</a:t>
            </a:r>
          </a:p>
          <a:p>
            <a:pPr algn="l" marL="331556" indent="-165778" lvl="1">
              <a:lnSpc>
                <a:spcPts val="3024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49317"/>
            <a:ext cx="14730765" cy="225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Embedded Computing and</a:t>
            </a: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Flight Controllers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EMBEDDED SYSTEMS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4462969"/>
            <a:ext cx="14730765" cy="439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Embedded computing refers to the design and implementation of computer systems that are integrated into other devices or systems.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computer systems are microcontrollers (Arduino, stm32), or Single Board Chips (SBCs- Raspberry pi, Jetson Nano Orin).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Microcontrollers are compact computers that integrate a CPU, memory, and hardware peripherals on a single chip. </a:t>
            </a:r>
          </a:p>
          <a:p>
            <a:pPr algn="l" marL="579120" indent="-28956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drones, flight controllers, which are special computing boards which have special software preinstalled are used extensively. 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8896" y="1849317"/>
            <a:ext cx="14730765" cy="225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69"/>
              </a:lnSpc>
              <a:spcBef>
                <a:spcPct val="0"/>
              </a:spcBef>
            </a:pPr>
            <a:r>
              <a:rPr lang="en-US" b="true" sz="8499" spc="-399" strike="noStrike" u="non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Embedded Computing and </a:t>
            </a:r>
            <a:r>
              <a:rPr lang="en-US" b="true" sz="8499" spc="-399" strike="noStrike" u="none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Flight Controllers contd.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8896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EMBEDDED SYSTEMS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4472494"/>
            <a:ext cx="14730765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824" indent="-26241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Single-Board Computers (SBCs) are compact computers built on a single circuit board. </a:t>
            </a:r>
          </a:p>
          <a:p>
            <a:pPr algn="l" marL="524824" indent="-26241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a typical setup, a drone would have one sbc and a flight controller. </a:t>
            </a:r>
          </a:p>
          <a:p>
            <a:pPr algn="l" marL="524824" indent="-26241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SBC will make higher-level decisions (for example- path planning) and send commands to the flight controller or microcontroller.</a:t>
            </a:r>
          </a:p>
          <a:p>
            <a:pPr algn="l" marL="524824" indent="-26241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flight controller will take these commands, process them and send them directly to the actuators. </a:t>
            </a:r>
          </a:p>
          <a:p>
            <a:pPr algn="l" marL="524824" indent="-26241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Flight Controllers also take sensor readings, process and send them up to the SBC or remote computers.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448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DAHVYDlEoJ8</dc:identifier>
  <dcterms:modified xsi:type="dcterms:W3CDTF">2011-08-01T06:04:30Z</dcterms:modified>
  <cp:revision>1</cp:revision>
  <dc:title>Aerial Robotics 2.pptx</dc:title>
</cp:coreProperties>
</file>