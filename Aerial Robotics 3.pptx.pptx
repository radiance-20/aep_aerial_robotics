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Roboto Condensed Bold" charset="1" panose="02000000000000000000"/>
      <p:regular r:id="rId26"/>
    </p:embeddedFont>
    <p:embeddedFont>
      <p:font typeface="Roboto Condensed" charset="1" panose="02000000000000000000"/>
      <p:regular r:id="rId27"/>
    </p:embeddedFont>
    <p:embeddedFont>
      <p:font typeface="Montserrat Bold" charset="1" panose="00000800000000000000"/>
      <p:regular r:id="rId28"/>
    </p:embeddedFont>
    <p:embeddedFont>
      <p:font typeface="Montserrat Light" charset="1" panose="00000400000000000000"/>
      <p:regular r:id="rId29"/>
    </p:embeddedFont>
    <p:embeddedFont>
      <p:font typeface="Montserrat" charset="1" panose="00000500000000000000"/>
      <p:regular r:id="rId30"/>
    </p:embeddedFont>
    <p:embeddedFont>
      <p:font typeface="Arial" charset="1" panose="020B0604020202020204"/>
      <p:regular r:id="rId32"/>
    </p:embeddedFont>
    <p:embeddedFont>
      <p:font typeface=" Avenir Next Arabic" charset="1" panose="020B0503020202020204"/>
      <p:regular r:id="rId39"/>
    </p:embeddedFont>
    <p:embeddedFont>
      <p:font typeface="Arial Bold" charset="1" panose="020B070402020202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point one, clarify that this holds under only some assumptions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where the controller model lives- PID, LQR, MPC,Lyapunov Functions, frequency response methods etc..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1660" y="2784852"/>
            <a:ext cx="12254914" cy="3330399"/>
            <a:chOff x="0" y="0"/>
            <a:chExt cx="16339885" cy="44405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39885" cy="4440533"/>
            </a:xfrm>
            <a:custGeom>
              <a:avLst/>
              <a:gdLst/>
              <a:ahLst/>
              <a:cxnLst/>
              <a:rect r="r" b="b" t="t" l="l"/>
              <a:pathLst>
                <a:path h="4440533" w="16339885">
                  <a:moveTo>
                    <a:pt x="0" y="0"/>
                  </a:moveTo>
                  <a:lnTo>
                    <a:pt x="16339885" y="0"/>
                  </a:lnTo>
                  <a:lnTo>
                    <a:pt x="16339885" y="4440533"/>
                  </a:lnTo>
                  <a:lnTo>
                    <a:pt x="0" y="4440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998" t="0" r="27242" b="-2440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16339885" cy="427860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0505"/>
                </a:lnSpc>
              </a:pPr>
              <a:r>
                <a:rPr lang="en-US" b="true" sz="10299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Mechanics, </a:t>
              </a:r>
              <a:r>
                <a:rPr lang="en-US" b="true" sz="10299">
                  <a:solidFill>
                    <a:srgbClr val="C6FE0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Control </a:t>
              </a:r>
              <a:r>
                <a:rPr lang="en-US" b="true" sz="10299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and State Estimation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18896" y="6453667"/>
            <a:ext cx="5563457" cy="194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Aurora Robotics</a:t>
            </a:r>
          </a:p>
          <a:p>
            <a:pPr algn="l">
              <a:lnSpc>
                <a:spcPts val="3888"/>
              </a:lnSpc>
            </a:pPr>
          </a:p>
          <a:p>
            <a:pPr algn="l">
              <a:lnSpc>
                <a:spcPts val="3888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O. C. Kogo, O. O. Egharevba </a:t>
            </a:r>
          </a:p>
          <a:p>
            <a:pPr algn="l">
              <a:lnSpc>
                <a:spcPts val="388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85551"/>
            <a:ext cx="6738602" cy="42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479">
                <a:solidFill>
                  <a:srgbClr val="C6FE08">
                    <a:alpha val="85882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 3 OF 8  ·  AERIAL ROBOTICS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0868" y="38096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8896" y="43811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64827" y="41906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85088" y="142428"/>
            <a:ext cx="833923" cy="507492"/>
            <a:chOff x="0" y="0"/>
            <a:chExt cx="1111898" cy="6766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8664" y="3392438"/>
            <a:ext cx="11726103" cy="403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flight is generated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Newtonian Mechanics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Open loop and Closed loop Control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PID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Estimation</a:t>
            </a:r>
          </a:p>
          <a:p>
            <a:pPr algn="l" marL="584170" indent="-292085" lvl="1">
              <a:lnSpc>
                <a:spcPts val="532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18664" y="2061240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Out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-line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18664" y="1240379"/>
            <a:ext cx="4089568" cy="507492"/>
            <a:chOff x="0" y="0"/>
            <a:chExt cx="5452758" cy="6766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579"/>
                </a:lnSpc>
                <a:spcBef>
                  <a:spcPct val="0"/>
                </a:spcBef>
              </a:pPr>
              <a:r>
                <a:rPr lang="en-US" sz="2149" strike="noStrike" u="none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OUTLINE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37488" y="294828"/>
            <a:ext cx="833923" cy="507492"/>
            <a:chOff x="0" y="0"/>
            <a:chExt cx="1111898" cy="676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94055" y="36348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205886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Over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545275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0"/>
                </a:lnSpc>
              </a:pPr>
              <a:r>
                <a:rPr lang="en-US" sz="2150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682752" y="261307"/>
            <a:ext cx="833923" cy="507492"/>
            <a:chOff x="0" y="0"/>
            <a:chExt cx="1111898" cy="676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2614" y="3556696"/>
            <a:ext cx="12725096" cy="270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week will cover rudimentary classical mechanics from a conceptual point of view, which is very important for understanding drone kinematics.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will also cover rudimentary control theory.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835152" y="413707"/>
            <a:ext cx="833923" cy="507492"/>
            <a:chOff x="0" y="0"/>
            <a:chExt cx="1111898" cy="676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8532" y="472387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6559" y="529537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32111" y="510487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074" y="1558599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Newtonian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Mechanics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937488" y="322288"/>
            <a:ext cx="833923" cy="507492"/>
            <a:chOff x="0" y="0"/>
            <a:chExt cx="111189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75789" y="2551105"/>
            <a:ext cx="16297184" cy="605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a few key terms to be unambiguously understood first: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Force: A force is a push or pull that changes the velocity of an object.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Inertia: The natural tendency for an object to resist change to its motion. 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Torque: This is the rotational equivalent of a linear force. It is a twisting or turning force that causes an object to rotate.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Moment of inertia: An object's resistance to changes in its rotational motion. 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Momentum: the measure of how much motion an object has, calculated as the product of its mass and velocity. This can be thought of how difficult it is to 'stop' a moving object.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85088" y="142428"/>
            <a:ext cx="833923" cy="507492"/>
            <a:chOff x="0" y="0"/>
            <a:chExt cx="1111898" cy="6766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7488" y="294828"/>
            <a:ext cx="833923" cy="507492"/>
            <a:chOff x="0" y="0"/>
            <a:chExt cx="1111898" cy="6766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1896" cy="676656"/>
            </a:xfrm>
            <a:custGeom>
              <a:avLst/>
              <a:gdLst/>
              <a:ahLst/>
              <a:cxnLst/>
              <a:rect r="r" b="b" t="t" l="l"/>
              <a:pathLst>
                <a:path h="676656" w="1111896">
                  <a:moveTo>
                    <a:pt x="0" y="0"/>
                  </a:moveTo>
                  <a:lnTo>
                    <a:pt x="1111896" y="0"/>
                  </a:lnTo>
                  <a:lnTo>
                    <a:pt x="1111896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8080" t="0" r="-2808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111898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60"/>
                </a:lnSpc>
              </a:pPr>
              <a:r>
                <a:rPr lang="en-US" sz="105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‹#›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94055" y="36348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7048798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Newtonian Mechanics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264" y="3190512"/>
            <a:ext cx="14730765" cy="3354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Newtonian mechanics describes the motion of objects by explicitly considering the forces and torques acting on them. 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Newtonian mechanics is built on top of Newton's laws of motion.</a:t>
            </a:r>
          </a:p>
          <a:p>
            <a:pPr algn="l" marL="584170" indent="-292085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consider a quadcopter in flight. The quadcopter must continually produce lift to counter its weight. 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7" t="0" r="-63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Flight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Generation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5549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BERNOULLI'S PRINCIPLE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160376"/>
            <a:ext cx="14730765" cy="403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89" indent="-295644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a fluid flow, the pressure and velocity of a fluid remains constant.</a:t>
            </a:r>
          </a:p>
          <a:p>
            <a:pPr algn="l" marL="591289" indent="-295644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fixed-wing VTOLS, this can be used to explain how the wings generate lift.</a:t>
            </a:r>
          </a:p>
          <a:p>
            <a:pPr algn="l" marL="591289" indent="-295644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air flows around a wing, the wing's shape and angle of attack cause the airflow to accelerate and change direction. </a:t>
            </a:r>
          </a:p>
          <a:p>
            <a:pPr algn="l" marL="591289" indent="-295644" lvl="1">
              <a:lnSpc>
                <a:spcPts val="5327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creates a pressure difference between the upper and lower surfaces of the wing, resulting in an upward aerodynamic force called lift.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603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Lift 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Generation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67662" y="3200400"/>
            <a:ext cx="10666876" cy="6000150"/>
            <a:chOff x="0" y="0"/>
            <a:chExt cx="14222501" cy="800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22476" cy="8000238"/>
            </a:xfrm>
            <a:custGeom>
              <a:avLst/>
              <a:gdLst/>
              <a:ahLst/>
              <a:cxnLst/>
              <a:rect r="r" b="b" t="t" l="l"/>
              <a:pathLst>
                <a:path h="8000238" w="14222476">
                  <a:moveTo>
                    <a:pt x="0" y="0"/>
                  </a:moveTo>
                  <a:lnTo>
                    <a:pt x="14222476" y="0"/>
                  </a:lnTo>
                  <a:lnTo>
                    <a:pt x="14222476" y="8000238"/>
                  </a:lnTo>
                  <a:lnTo>
                    <a:pt x="0" y="8000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6536686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Open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Loop and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Closed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Loop Control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227051"/>
            <a:ext cx="15982866" cy="220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3" indent="-31670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 engineering is the design of systems that make physical processes behave in a desired way.</a:t>
            </a:r>
          </a:p>
          <a:p>
            <a:pPr algn="l" marL="633413" indent="-31670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2 broad categories of control engineering: Open loop and closed loop control.</a:t>
            </a:r>
          </a:p>
          <a:p>
            <a:pPr algn="l" marL="633413" indent="-316706" lvl="1">
              <a:lnSpc>
                <a:spcPts val="5040"/>
              </a:lnSpc>
            </a:pP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038350" y="5327759"/>
          <a:ext cx="14211300" cy="3930541"/>
        </p:xfrm>
        <a:graphic>
          <a:graphicData uri="http://schemas.openxmlformats.org/drawingml/2006/table">
            <a:tbl>
              <a:tblPr/>
              <a:tblGrid>
                <a:gridCol w="7105650"/>
                <a:gridCol w="7105650"/>
              </a:tblGrid>
              <a:tr h="8600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Open Loop Control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FFFF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Closed Loop Control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600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Control without feedback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Uses a sensor to get feedback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8505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Cheaper to implement 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More costly to implement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1359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Good when there's a good model or the system is sufficiently simple 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 Avenir Next Arabic"/>
                          <a:ea typeface=" Avenir Next Arabic"/>
                          <a:cs typeface=" Avenir Next Arabic"/>
                          <a:sym typeface=" Avenir Next Arabic"/>
                        </a:rPr>
                        <a:t>Good when there are uncertainties in parameters and for more complex systems</a:t>
                      </a:r>
                      <a:endParaRPr lang="en-US" sz="1100"/>
                    </a:p>
                  </a:txBody>
                  <a:tcPr marL="92575" marR="92575" marT="92575" marB="92575" anchor="t">
                    <a:lnL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8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264" y="2694813"/>
            <a:ext cx="14730765" cy="24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of control engineering happens in closed loop control.</a:t>
            </a:r>
          </a:p>
          <a:p>
            <a:pPr algn="l" marL="591289" indent="-295644" lvl="1">
              <a:lnSpc>
                <a:spcPts val="5327"/>
              </a:lnSpc>
            </a:pPr>
          </a:p>
          <a:p>
            <a:pPr algn="l" marL="591289" indent="-295644" lvl="1">
              <a:lnSpc>
                <a:spcPts val="532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3076384" y="4376333"/>
            <a:ext cx="13217670" cy="5303601"/>
            <a:chOff x="0" y="0"/>
            <a:chExt cx="17623561" cy="70714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23560" cy="7071468"/>
            </a:xfrm>
            <a:custGeom>
              <a:avLst/>
              <a:gdLst/>
              <a:ahLst/>
              <a:cxnLst/>
              <a:rect r="r" b="b" t="t" l="l"/>
              <a:pathLst>
                <a:path h="7071468" w="17623560">
                  <a:moveTo>
                    <a:pt x="0" y="0"/>
                  </a:moveTo>
                  <a:lnTo>
                    <a:pt x="17623560" y="0"/>
                  </a:lnTo>
                  <a:lnTo>
                    <a:pt x="17623560" y="7071468"/>
                  </a:lnTo>
                  <a:lnTo>
                    <a:pt x="0" y="7071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39" r="0" b="-523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Closed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Loop Control Systems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5549" y="1208475"/>
            <a:ext cx="4089568" cy="507492"/>
            <a:chOff x="0" y="0"/>
            <a:chExt cx="5452758" cy="676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PID</a:t>
            </a: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Control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2139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C6FE0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PID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8896" y="2877883"/>
            <a:ext cx="15851066" cy="452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Remember the previous diagram, there was a box named 'controller'.  </a:t>
            </a:r>
          </a:p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explain PID control, we must take each part apart using the same example:</a:t>
            </a:r>
          </a:p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Imagine you are flying a drone and want to hover at a specific height.</a:t>
            </a:r>
          </a:p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can control the angular velocity of the motors, which controls the lift. </a:t>
            </a:r>
          </a:p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two important forces in this simple example- the drone's weight acting downward and the lift acting upward.</a:t>
            </a:r>
          </a:p>
          <a:p>
            <a:pPr algn="l" marL="571024" indent="-285512" lvl="1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define the error as the difference between the drone's current height and the desired height. </a:t>
            </a:r>
          </a:p>
          <a:p>
            <a:pPr algn="l" marL="571024" indent="-285512" lvl="1">
              <a:lnSpc>
                <a:spcPts val="475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3997533" y="6826321"/>
            <a:ext cx="11034484" cy="2927631"/>
            <a:chOff x="0" y="0"/>
            <a:chExt cx="14712645" cy="39035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12696" cy="3903534"/>
            </a:xfrm>
            <a:custGeom>
              <a:avLst/>
              <a:gdLst/>
              <a:ahLst/>
              <a:cxnLst/>
              <a:rect r="r" b="b" t="t" l="l"/>
              <a:pathLst>
                <a:path h="3903534" w="14712696">
                  <a:moveTo>
                    <a:pt x="0" y="0"/>
                  </a:moveTo>
                  <a:lnTo>
                    <a:pt x="14712696" y="0"/>
                  </a:lnTo>
                  <a:lnTo>
                    <a:pt x="14712696" y="3903534"/>
                  </a:lnTo>
                  <a:lnTo>
                    <a:pt x="0" y="3903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47" t="0" r="-154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23814" y="7018064"/>
            <a:ext cx="7753055" cy="2544147"/>
            <a:chOff x="0" y="0"/>
            <a:chExt cx="10337406" cy="33921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37419" cy="3392170"/>
            </a:xfrm>
            <a:custGeom>
              <a:avLst/>
              <a:gdLst/>
              <a:ahLst/>
              <a:cxnLst/>
              <a:rect r="r" b="b" t="t" l="l"/>
              <a:pathLst>
                <a:path h="3392170" w="10337419">
                  <a:moveTo>
                    <a:pt x="0" y="0"/>
                  </a:moveTo>
                  <a:lnTo>
                    <a:pt x="10337419" y="0"/>
                  </a:lnTo>
                  <a:lnTo>
                    <a:pt x="10337419" y="3392170"/>
                  </a:lnTo>
                  <a:lnTo>
                    <a:pt x="0" y="3392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37" r="0" b="-4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7" t="0" r="-63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PID -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Proportional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C6FE0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PID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331826"/>
            <a:ext cx="16297184" cy="543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Taking P- the Proportional term only- we multiply the error by the proportional gain (Kp) and send that as output to the motors.</a:t>
            </a:r>
          </a:p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works well in getting the drone close to the desired value, but the error vanishes at the desired, leading to the output being zero.</a:t>
            </a:r>
          </a:p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drone requires a set motor velocity to hover at a particular height.</a:t>
            </a:r>
          </a:p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the closer it gets to the desired height past a certain point, the more the error tends to 0 and the output also becomes 0. </a:t>
            </a:r>
          </a:p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leads to the drone hovering at a height that produces an error high enough to produce an output that can keep the drone hovering.</a:t>
            </a:r>
          </a:p>
          <a:p>
            <a:pPr algn="l" marL="595697" indent="-297848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is called steady-state error and is almost inevitable when using only the proportional term.</a:t>
            </a:r>
          </a:p>
          <a:p>
            <a:pPr algn="l" marL="595697" indent="-297848" lvl="1">
              <a:lnSpc>
                <a:spcPts val="426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PID Control -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Derivative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PID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331826"/>
            <a:ext cx="15785166" cy="543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Let's say we want to decrease the the response time. </a:t>
            </a:r>
          </a:p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increase the proportional gain to produce stronger commands. But then the drone inertia makes it overshoot our target. This leads to oscillatory behaviour.</a:t>
            </a:r>
          </a:p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counter this oscillation, we introduce the derivative. The derivative gain (Kd) is multiplied by the rate of change of the error. </a:t>
            </a:r>
          </a:p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 gives us a way to shape the response according to how fast the error is changing. </a:t>
            </a:r>
          </a:p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derivative term then acts as a 'dampener' to dampen oscillatory behaviour, as it reduces the command being sent as the drone approaches the destination.</a:t>
            </a:r>
          </a:p>
          <a:p>
            <a:pPr algn="l" marL="597393" indent="-298696" lvl="1">
              <a:lnSpc>
                <a:spcPts val="355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derivative term prevents overshoot in situations where little or 0 overshoot is critical.</a:t>
            </a:r>
          </a:p>
          <a:p>
            <a:pPr algn="l" marL="597393" indent="-298696" lvl="1">
              <a:lnSpc>
                <a:spcPts val="426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20742"/>
            <a:ext cx="14730765" cy="11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PID Control - </a:t>
            </a:r>
            <a:r>
              <a:rPr lang="en-US" b="true" sz="8000">
                <a:solidFill>
                  <a:srgbClr val="C6FE08"/>
                </a:solidFill>
                <a:latin typeface="Arial Bold"/>
                <a:ea typeface="Arial Bold"/>
                <a:cs typeface="Arial Bold"/>
                <a:sym typeface="Arial Bold"/>
              </a:rPr>
              <a:t>Integral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PID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264" y="2927547"/>
            <a:ext cx="15627790" cy="623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Now we have a drone that flies close to its target without overshooting, in a timely manner.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have one more problem to solve: the drone doesn't hover at the set point. 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has a constant error called steady-state error.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 integrating the error over time, and multiplying that by the integral gain (Ki), we get the integral term.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integral term accumulates the error and produces commands based on the accumulated error over time.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leads to a gradual correction of the steady-state error over time. Allowing the drone to hover at the desired position.</a:t>
            </a:r>
          </a:p>
          <a:p>
            <a:pPr algn="l" marL="591289" indent="-295644" lvl="1">
              <a:lnSpc>
                <a:spcPts val="532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582617"/>
            <a:ext cx="14730765" cy="11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PID Controllers - </a:t>
            </a:r>
            <a:r>
              <a:rPr lang="en-US" b="true" sz="8000">
                <a:solidFill>
                  <a:srgbClr val="C6FE08"/>
                </a:solidFill>
                <a:latin typeface="Arial Bold"/>
                <a:ea typeface="Arial Bold"/>
                <a:cs typeface="Arial Bold"/>
                <a:sym typeface="Arial Bold"/>
              </a:rPr>
              <a:t>Tuning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028700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PID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264" y="2894634"/>
            <a:ext cx="16523751" cy="567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Pid controllers have a few different tuning methods like the Zeigler-Nichols tuning method and software optimization methods.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it is usually sufficient to tune manually via trial-and-error for non-critical systems.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quick refresher which helps with tuning: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 term- used for generating commands proportional to error. Leaves steady-state error.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term- used to cancel out steady-state error.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 term- used to smooth out oscillations and overshoot caused by mechanical dynamics.</a:t>
            </a:r>
          </a:p>
          <a:p>
            <a:pPr algn="l" marL="591289" indent="-295644" lvl="1">
              <a:lnSpc>
                <a:spcPts val="532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49317"/>
            <a:ext cx="1473076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State </a:t>
            </a:r>
            <a:r>
              <a:rPr lang="en-US" b="true" sz="8000">
                <a:solidFill>
                  <a:srgbClr val="C6FE0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Estimation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STATE ESTIMATION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246101"/>
            <a:ext cx="15558506" cy="511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State estimation is the task of estimating a robot/system's position from its sensor measurements and system model.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simplest state estimation algorithm is dead-reckoning.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Dead-reckoning is integrating the movements of the robot to get its position over time.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Dead reckoning isn't ideal as it accumulates error due to sensor drift over time and doesn't model disturbances or noise.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techniques are Kalman filters, particle filters, Luenberger obersevers, etc..</a:t>
            </a:r>
          </a:p>
          <a:p>
            <a:pPr algn="l" marL="591289" indent="-295644" lvl="1">
              <a:lnSpc>
                <a:spcPts val="532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20742"/>
            <a:ext cx="17048798" cy="11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State Estimation – </a:t>
            </a:r>
            <a:r>
              <a:rPr lang="en-US" b="true" sz="8000">
                <a:solidFill>
                  <a:srgbClr val="C6FE08"/>
                </a:solidFill>
                <a:latin typeface="Arial Bold"/>
                <a:ea typeface="Arial Bold"/>
                <a:cs typeface="Arial Bold"/>
                <a:sym typeface="Arial Bold"/>
              </a:rPr>
              <a:t>Kalman Filters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STATE ESTIMATION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35549" y="3246101"/>
            <a:ext cx="14717773" cy="399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Kalman filters are used extensively in aerial robotics.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track the state in a stochastic manner, tracking the most probable state (e.g. position and velocity) and its uncertainty.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Kalman filter estimates a robot's state when both the robot's motion and its sensor measurements are uncertain.</a:t>
            </a:r>
          </a:p>
          <a:p>
            <a:pPr algn="l" marL="591289" indent="-295644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does this in two steps: an update and a prediction step.</a:t>
            </a:r>
          </a:p>
          <a:p>
            <a:pPr algn="l" marL="591289" indent="-295644" lvl="1">
              <a:lnSpc>
                <a:spcPts val="532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7" t="0" r="-63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2" r="0" b="-1495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614" y="1820742"/>
            <a:ext cx="14730603" cy="11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b="true" sz="8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Kalman Filters </a:t>
            </a:r>
            <a:r>
              <a:rPr lang="en-US" b="true" sz="8000">
                <a:solidFill>
                  <a:srgbClr val="C6FE08"/>
                </a:solidFill>
                <a:latin typeface="Arial Bold"/>
                <a:ea typeface="Arial Bold"/>
                <a:cs typeface="Arial Bold"/>
                <a:sym typeface="Arial Bold"/>
              </a:rPr>
              <a:t>Contd.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2164" y="3049074"/>
            <a:ext cx="16663672" cy="505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Prediction: Where do we expect the robot to be based on its previous state and motion?</a:t>
            </a:r>
          </a:p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Measurement: What does a sensor tell us about the robot's current state?</a:t>
            </a:r>
          </a:p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 prediction uncertainty means the observer would trust the measurement more.</a:t>
            </a:r>
          </a:p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 measurement uncertainty means the observer would trust the prediction more.</a:t>
            </a:r>
          </a:p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 Example: Wheel odometry predicts that the robot is at x=5.0m, but GPS measures x=5.4m. </a:t>
            </a:r>
          </a:p>
          <a:p>
            <a:pPr algn="l" marL="599122" indent="-299561" lvl="1">
              <a:lnSpc>
                <a:spcPts val="4439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the odometry is more reliable than the GPS, the Kalman filter may estimate x≈5.1m rather than simply choosing either value.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0868" y="9449481"/>
            <a:ext cx="1593375" cy="4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Run into</a:t>
            </a:r>
          </a:p>
          <a:p>
            <a:pPr algn="l">
              <a:lnSpc>
                <a:spcPts val="1931"/>
              </a:lnSpc>
            </a:pPr>
            <a:r>
              <a:rPr lang="en-US" sz="1694" spc="-17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UNKNOWN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80868" y="353508"/>
            <a:ext cx="570792" cy="481965"/>
          </a:xfrm>
          <a:custGeom>
            <a:avLst/>
            <a:gdLst/>
            <a:ahLst/>
            <a:cxnLst/>
            <a:rect r="r" b="b" t="t" l="l"/>
            <a:pathLst>
              <a:path h="481965" w="570792">
                <a:moveTo>
                  <a:pt x="0" y="0"/>
                </a:moveTo>
                <a:lnTo>
                  <a:pt x="570792" y="0"/>
                </a:lnTo>
                <a:lnTo>
                  <a:pt x="570792" y="481965"/>
                </a:lnTo>
                <a:lnTo>
                  <a:pt x="0" y="481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7" t="0" r="-63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8896" y="410658"/>
            <a:ext cx="1133398" cy="46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Aurora </a:t>
            </a:r>
          </a:p>
          <a:p>
            <a:pPr algn="l">
              <a:lnSpc>
                <a:spcPts val="1812"/>
              </a:lnSpc>
            </a:pPr>
            <a:r>
              <a:rPr lang="en-US" sz="2013" spc="-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Robotics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94055" y="391608"/>
            <a:ext cx="1477357" cy="51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AERIAL</a:t>
            </a:r>
          </a:p>
          <a:p>
            <a:pPr algn="l">
              <a:lnSpc>
                <a:spcPts val="2086"/>
              </a:lnSpc>
            </a:pPr>
            <a:r>
              <a:rPr lang="en-US" sz="2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2614" y="1208475"/>
            <a:ext cx="4089568" cy="507492"/>
            <a:chOff x="0" y="0"/>
            <a:chExt cx="5452758" cy="6766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52752" cy="676656"/>
            </a:xfrm>
            <a:custGeom>
              <a:avLst/>
              <a:gdLst/>
              <a:ahLst/>
              <a:cxnLst/>
              <a:rect r="r" b="b" t="t" l="l"/>
              <a:pathLst>
                <a:path h="676656" w="5452752">
                  <a:moveTo>
                    <a:pt x="0" y="0"/>
                  </a:moveTo>
                  <a:lnTo>
                    <a:pt x="5452752" y="0"/>
                  </a:lnTo>
                  <a:lnTo>
                    <a:pt x="545275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018" r="0" b="-1070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52758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6FE08"/>
                  </a:solidFill>
                  <a:latin typeface="Arial"/>
                  <a:ea typeface="Arial"/>
                  <a:cs typeface="Arial"/>
                  <a:sym typeface="Arial"/>
                </a:rPr>
                <a:t>STATE ESTIMATION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DAHWCZW8ZEc</dc:identifier>
  <dcterms:modified xsi:type="dcterms:W3CDTF">2011-08-01T06:04:30Z</dcterms:modified>
  <cp:revision>1</cp:revision>
  <dc:title>Aerial Robotics 3.pptx</dc:title>
</cp:coreProperties>
</file>